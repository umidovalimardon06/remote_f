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Default Extension="png" ContentType="image/png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060361" y="1228536"/>
            <a:ext cx="6167277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0040A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40A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40A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0040A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0F4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148" y="444500"/>
            <a:ext cx="16255702" cy="1556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0040A3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36526" y="3103879"/>
            <a:ext cx="7814946" cy="3854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4050" y="4133849"/>
            <a:ext cx="3789045" cy="104775"/>
          </a:xfrm>
          <a:custGeom>
            <a:avLst/>
            <a:gdLst/>
            <a:ahLst/>
            <a:cxnLst/>
            <a:rect l="l" t="t" r="r" b="b"/>
            <a:pathLst>
              <a:path w="3789045" h="104775">
                <a:moveTo>
                  <a:pt x="3789005" y="104774"/>
                </a:moveTo>
                <a:lnTo>
                  <a:pt x="0" y="104774"/>
                </a:lnTo>
                <a:lnTo>
                  <a:pt x="0" y="0"/>
                </a:lnTo>
                <a:lnTo>
                  <a:pt x="3789005" y="0"/>
                </a:lnTo>
                <a:lnTo>
                  <a:pt x="3789005" y="104774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145126" y="4133849"/>
            <a:ext cx="2679065" cy="104775"/>
          </a:xfrm>
          <a:custGeom>
            <a:avLst/>
            <a:gdLst/>
            <a:ahLst/>
            <a:cxnLst/>
            <a:rect l="l" t="t" r="r" b="b"/>
            <a:pathLst>
              <a:path w="2679065" h="104775">
                <a:moveTo>
                  <a:pt x="2678952" y="104774"/>
                </a:moveTo>
                <a:lnTo>
                  <a:pt x="0" y="104774"/>
                </a:lnTo>
                <a:lnTo>
                  <a:pt x="0" y="0"/>
                </a:lnTo>
                <a:lnTo>
                  <a:pt x="2678952" y="0"/>
                </a:lnTo>
                <a:lnTo>
                  <a:pt x="2678952" y="104774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312374" y="4133849"/>
            <a:ext cx="1466850" cy="104775"/>
          </a:xfrm>
          <a:custGeom>
            <a:avLst/>
            <a:gdLst/>
            <a:ahLst/>
            <a:cxnLst/>
            <a:rect l="l" t="t" r="r" b="b"/>
            <a:pathLst>
              <a:path w="1466850" h="104775">
                <a:moveTo>
                  <a:pt x="1466829" y="104774"/>
                </a:moveTo>
                <a:lnTo>
                  <a:pt x="0" y="104774"/>
                </a:lnTo>
                <a:lnTo>
                  <a:pt x="0" y="0"/>
                </a:lnTo>
                <a:lnTo>
                  <a:pt x="1466829" y="0"/>
                </a:lnTo>
                <a:lnTo>
                  <a:pt x="1466829" y="104774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74327" y="5638799"/>
            <a:ext cx="4027804" cy="104775"/>
          </a:xfrm>
          <a:custGeom>
            <a:avLst/>
            <a:gdLst/>
            <a:ahLst/>
            <a:cxnLst/>
            <a:rect l="l" t="t" r="r" b="b"/>
            <a:pathLst>
              <a:path w="4027804" h="104775">
                <a:moveTo>
                  <a:pt x="4027322" y="104774"/>
                </a:moveTo>
                <a:lnTo>
                  <a:pt x="0" y="104774"/>
                </a:lnTo>
                <a:lnTo>
                  <a:pt x="0" y="0"/>
                </a:lnTo>
                <a:lnTo>
                  <a:pt x="4027322" y="0"/>
                </a:lnTo>
                <a:lnTo>
                  <a:pt x="4027322" y="104774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189943" y="5638799"/>
            <a:ext cx="2524760" cy="104775"/>
          </a:xfrm>
          <a:custGeom>
            <a:avLst/>
            <a:gdLst/>
            <a:ahLst/>
            <a:cxnLst/>
            <a:rect l="l" t="t" r="r" b="b"/>
            <a:pathLst>
              <a:path w="2524759" h="104775">
                <a:moveTo>
                  <a:pt x="2524696" y="104774"/>
                </a:moveTo>
                <a:lnTo>
                  <a:pt x="0" y="104774"/>
                </a:lnTo>
                <a:lnTo>
                  <a:pt x="0" y="0"/>
                </a:lnTo>
                <a:lnTo>
                  <a:pt x="2524696" y="0"/>
                </a:lnTo>
                <a:lnTo>
                  <a:pt x="2524696" y="104774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921350" y="2774943"/>
            <a:ext cx="14199869" cy="4540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6199"/>
              </a:lnSpc>
              <a:spcBef>
                <a:spcPts val="95"/>
              </a:spcBef>
            </a:pPr>
            <a:r>
              <a:rPr dirty="0" sz="8500" b="1">
                <a:solidFill>
                  <a:srgbClr val="0040A3"/>
                </a:solidFill>
                <a:latin typeface="Cambria"/>
                <a:cs typeface="Cambria"/>
              </a:rPr>
              <a:t>Bozor</a:t>
            </a:r>
            <a:r>
              <a:rPr dirty="0" sz="8500" spc="-295" b="1">
                <a:solidFill>
                  <a:srgbClr val="0040A3"/>
                </a:solidFill>
                <a:latin typeface="Cambria"/>
                <a:cs typeface="Cambria"/>
              </a:rPr>
              <a:t> </a:t>
            </a:r>
            <a:r>
              <a:rPr dirty="0" sz="8500" spc="-25" b="1">
                <a:solidFill>
                  <a:srgbClr val="0040A3"/>
                </a:solidFill>
                <a:latin typeface="Cambria"/>
                <a:cs typeface="Cambria"/>
              </a:rPr>
              <a:t>iqtisodiyoti</a:t>
            </a:r>
            <a:r>
              <a:rPr dirty="0" sz="8500" spc="-140" b="1">
                <a:solidFill>
                  <a:srgbClr val="0040A3"/>
                </a:solidFill>
                <a:latin typeface="Cambria"/>
                <a:cs typeface="Cambria"/>
              </a:rPr>
              <a:t> </a:t>
            </a:r>
            <a:r>
              <a:rPr dirty="0" sz="8500" spc="-20" b="1">
                <a:solidFill>
                  <a:srgbClr val="1A1A2E"/>
                </a:solidFill>
                <a:latin typeface="Cambria"/>
                <a:cs typeface="Cambria"/>
              </a:rPr>
              <a:t>sharoitida </a:t>
            </a:r>
            <a:r>
              <a:rPr dirty="0" sz="8500" b="1">
                <a:solidFill>
                  <a:srgbClr val="1A1A2E"/>
                </a:solidFill>
                <a:latin typeface="Cambria"/>
                <a:cs typeface="Cambria"/>
              </a:rPr>
              <a:t>banklarning</a:t>
            </a:r>
            <a:r>
              <a:rPr dirty="0" sz="8500" spc="-405" b="1">
                <a:solidFill>
                  <a:srgbClr val="1A1A2E"/>
                </a:solidFill>
                <a:latin typeface="Cambria"/>
                <a:cs typeface="Cambria"/>
              </a:rPr>
              <a:t> </a:t>
            </a:r>
            <a:r>
              <a:rPr dirty="0" sz="8500" spc="-20" b="1">
                <a:solidFill>
                  <a:srgbClr val="0040A3"/>
                </a:solidFill>
                <a:latin typeface="Cambria"/>
                <a:cs typeface="Cambria"/>
              </a:rPr>
              <a:t>kredit</a:t>
            </a:r>
            <a:r>
              <a:rPr dirty="0" sz="8500" spc="-370" b="1">
                <a:solidFill>
                  <a:srgbClr val="0040A3"/>
                </a:solidFill>
                <a:latin typeface="Cambria"/>
                <a:cs typeface="Cambria"/>
              </a:rPr>
              <a:t> </a:t>
            </a:r>
            <a:r>
              <a:rPr dirty="0" sz="8500" spc="-10" b="1">
                <a:solidFill>
                  <a:srgbClr val="0040A3"/>
                </a:solidFill>
                <a:latin typeface="Cambria"/>
                <a:cs typeface="Cambria"/>
              </a:rPr>
              <a:t>siyosati </a:t>
            </a:r>
            <a:r>
              <a:rPr dirty="0" sz="8500" spc="-254" b="1">
                <a:solidFill>
                  <a:srgbClr val="1A1A2E"/>
                </a:solidFill>
                <a:latin typeface="Cambria"/>
                <a:cs typeface="Cambria"/>
              </a:rPr>
              <a:t>va</a:t>
            </a:r>
            <a:r>
              <a:rPr dirty="0" sz="8500" spc="80" b="1">
                <a:solidFill>
                  <a:srgbClr val="1A1A2E"/>
                </a:solidFill>
                <a:latin typeface="Cambria"/>
                <a:cs typeface="Cambria"/>
              </a:rPr>
              <a:t> </a:t>
            </a:r>
            <a:r>
              <a:rPr dirty="0" sz="8500" spc="65" b="1">
                <a:solidFill>
                  <a:srgbClr val="1A1A2E"/>
                </a:solidFill>
                <a:latin typeface="Cambria"/>
                <a:cs typeface="Cambria"/>
              </a:rPr>
              <a:t>uning</a:t>
            </a:r>
            <a:r>
              <a:rPr dirty="0" sz="8500" spc="35" b="1">
                <a:solidFill>
                  <a:srgbClr val="1A1A2E"/>
                </a:solidFill>
                <a:latin typeface="Cambria"/>
                <a:cs typeface="Cambria"/>
              </a:rPr>
              <a:t> </a:t>
            </a:r>
            <a:r>
              <a:rPr dirty="0" sz="8500" spc="-10" b="1">
                <a:solidFill>
                  <a:srgbClr val="1A1A2E"/>
                </a:solidFill>
                <a:latin typeface="Cambria"/>
                <a:cs typeface="Cambria"/>
              </a:rPr>
              <a:t>xususiyatlari</a:t>
            </a:r>
            <a:endParaRPr sz="8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54192" y="4013807"/>
            <a:ext cx="2280285" cy="68580"/>
          </a:xfrm>
          <a:custGeom>
            <a:avLst/>
            <a:gdLst/>
            <a:ahLst/>
            <a:cxnLst/>
            <a:rect l="l" t="t" r="r" b="b"/>
            <a:pathLst>
              <a:path w="2280285" h="68579">
                <a:moveTo>
                  <a:pt x="2280248" y="68171"/>
                </a:moveTo>
                <a:lnTo>
                  <a:pt x="0" y="68171"/>
                </a:lnTo>
                <a:lnTo>
                  <a:pt x="0" y="0"/>
                </a:lnTo>
                <a:lnTo>
                  <a:pt x="2280248" y="0"/>
                </a:lnTo>
                <a:lnTo>
                  <a:pt x="2280248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31543" y="4013807"/>
            <a:ext cx="1640205" cy="68580"/>
          </a:xfrm>
          <a:custGeom>
            <a:avLst/>
            <a:gdLst/>
            <a:ahLst/>
            <a:cxnLst/>
            <a:rect l="l" t="t" r="r" b="b"/>
            <a:pathLst>
              <a:path w="1640204" h="68579">
                <a:moveTo>
                  <a:pt x="1640051" y="68171"/>
                </a:moveTo>
                <a:lnTo>
                  <a:pt x="0" y="68171"/>
                </a:lnTo>
                <a:lnTo>
                  <a:pt x="0" y="0"/>
                </a:lnTo>
                <a:lnTo>
                  <a:pt x="1640051" y="0"/>
                </a:lnTo>
                <a:lnTo>
                  <a:pt x="1640051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393133" y="4013807"/>
            <a:ext cx="883919" cy="68580"/>
          </a:xfrm>
          <a:custGeom>
            <a:avLst/>
            <a:gdLst/>
            <a:ahLst/>
            <a:cxnLst/>
            <a:rect l="l" t="t" r="r" b="b"/>
            <a:pathLst>
              <a:path w="883920" h="68579">
                <a:moveTo>
                  <a:pt x="883759" y="68171"/>
                </a:moveTo>
                <a:lnTo>
                  <a:pt x="0" y="68171"/>
                </a:lnTo>
                <a:lnTo>
                  <a:pt x="0" y="0"/>
                </a:lnTo>
                <a:lnTo>
                  <a:pt x="883759" y="0"/>
                </a:lnTo>
                <a:lnTo>
                  <a:pt x="883759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54192" y="4968202"/>
            <a:ext cx="1835785" cy="68580"/>
          </a:xfrm>
          <a:custGeom>
            <a:avLst/>
            <a:gdLst/>
            <a:ahLst/>
            <a:cxnLst/>
            <a:rect l="l" t="t" r="r" b="b"/>
            <a:pathLst>
              <a:path w="1835785" h="68579">
                <a:moveTo>
                  <a:pt x="1835598" y="68171"/>
                </a:moveTo>
                <a:lnTo>
                  <a:pt x="0" y="68171"/>
                </a:lnTo>
                <a:lnTo>
                  <a:pt x="0" y="0"/>
                </a:lnTo>
                <a:lnTo>
                  <a:pt x="1835598" y="0"/>
                </a:lnTo>
                <a:lnTo>
                  <a:pt x="1835598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28474" y="5922598"/>
            <a:ext cx="2388870" cy="68580"/>
          </a:xfrm>
          <a:custGeom>
            <a:avLst/>
            <a:gdLst/>
            <a:ahLst/>
            <a:cxnLst/>
            <a:rect l="l" t="t" r="r" b="b"/>
            <a:pathLst>
              <a:path w="2388870" h="68579">
                <a:moveTo>
                  <a:pt x="2388578" y="68171"/>
                </a:moveTo>
                <a:lnTo>
                  <a:pt x="0" y="68171"/>
                </a:lnTo>
                <a:lnTo>
                  <a:pt x="0" y="0"/>
                </a:lnTo>
                <a:lnTo>
                  <a:pt x="2388578" y="0"/>
                </a:lnTo>
                <a:lnTo>
                  <a:pt x="2388578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538591" y="5922598"/>
            <a:ext cx="1519555" cy="68580"/>
          </a:xfrm>
          <a:custGeom>
            <a:avLst/>
            <a:gdLst/>
            <a:ahLst/>
            <a:cxnLst/>
            <a:rect l="l" t="t" r="r" b="b"/>
            <a:pathLst>
              <a:path w="1519554" h="68579">
                <a:moveTo>
                  <a:pt x="1519409" y="68171"/>
                </a:moveTo>
                <a:lnTo>
                  <a:pt x="0" y="68171"/>
                </a:lnTo>
                <a:lnTo>
                  <a:pt x="0" y="0"/>
                </a:lnTo>
                <a:lnTo>
                  <a:pt x="1519409" y="0"/>
                </a:lnTo>
                <a:lnTo>
                  <a:pt x="1519409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021324" y="6876994"/>
            <a:ext cx="1504950" cy="68580"/>
          </a:xfrm>
          <a:custGeom>
            <a:avLst/>
            <a:gdLst/>
            <a:ahLst/>
            <a:cxnLst/>
            <a:rect l="l" t="t" r="r" b="b"/>
            <a:pathLst>
              <a:path w="1504950" h="68579">
                <a:moveTo>
                  <a:pt x="1504396" y="68171"/>
                </a:moveTo>
                <a:lnTo>
                  <a:pt x="0" y="68171"/>
                </a:lnTo>
                <a:lnTo>
                  <a:pt x="0" y="0"/>
                </a:lnTo>
                <a:lnTo>
                  <a:pt x="1504396" y="0"/>
                </a:lnTo>
                <a:lnTo>
                  <a:pt x="1504396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747258" y="6876994"/>
            <a:ext cx="2141855" cy="68580"/>
          </a:xfrm>
          <a:custGeom>
            <a:avLst/>
            <a:gdLst/>
            <a:ahLst/>
            <a:cxnLst/>
            <a:rect l="l" t="t" r="r" b="b"/>
            <a:pathLst>
              <a:path w="2141854" h="68579">
                <a:moveTo>
                  <a:pt x="2141279" y="68171"/>
                </a:moveTo>
                <a:lnTo>
                  <a:pt x="0" y="68171"/>
                </a:lnTo>
                <a:lnTo>
                  <a:pt x="0" y="0"/>
                </a:lnTo>
                <a:lnTo>
                  <a:pt x="2141279" y="0"/>
                </a:lnTo>
                <a:lnTo>
                  <a:pt x="2141279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110076" y="6876994"/>
            <a:ext cx="1588770" cy="68580"/>
          </a:xfrm>
          <a:custGeom>
            <a:avLst/>
            <a:gdLst/>
            <a:ahLst/>
            <a:cxnLst/>
            <a:rect l="l" t="t" r="r" b="b"/>
            <a:pathLst>
              <a:path w="1588770" h="68579">
                <a:moveTo>
                  <a:pt x="1588320" y="68171"/>
                </a:moveTo>
                <a:lnTo>
                  <a:pt x="0" y="68171"/>
                </a:lnTo>
                <a:lnTo>
                  <a:pt x="0" y="0"/>
                </a:lnTo>
                <a:lnTo>
                  <a:pt x="1588320" y="0"/>
                </a:lnTo>
                <a:lnTo>
                  <a:pt x="1588320" y="68171"/>
                </a:lnTo>
                <a:close/>
              </a:path>
            </a:pathLst>
          </a:custGeom>
          <a:solidFill>
            <a:srgbClr val="0040A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85015" y="3144098"/>
            <a:ext cx="15318740" cy="3843020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568960" indent="-568325">
              <a:lnSpc>
                <a:spcPct val="100000"/>
              </a:lnSpc>
              <a:spcBef>
                <a:spcPts val="1190"/>
              </a:spcBef>
              <a:buClr>
                <a:srgbClr val="1A1A2E"/>
              </a:buClr>
              <a:buSzPct val="87850"/>
              <a:buAutoNum type="arabicPeriod"/>
              <a:tabLst>
                <a:tab pos="568960" algn="l"/>
              </a:tabLst>
            </a:pPr>
            <a:r>
              <a:rPr dirty="0" sz="5350" spc="90">
                <a:solidFill>
                  <a:srgbClr val="0040A3"/>
                </a:solidFill>
                <a:latin typeface="Tahoma"/>
                <a:cs typeface="Tahoma"/>
              </a:rPr>
              <a:t>Bozor</a:t>
            </a:r>
            <a:r>
              <a:rPr dirty="0" sz="5350" spc="-42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55">
                <a:solidFill>
                  <a:srgbClr val="0040A3"/>
                </a:solidFill>
                <a:latin typeface="Tahoma"/>
                <a:cs typeface="Tahoma"/>
              </a:rPr>
              <a:t>iqtisodiyoti</a:t>
            </a:r>
            <a:r>
              <a:rPr dirty="0" sz="5350" spc="-43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va</a:t>
            </a:r>
            <a:r>
              <a:rPr dirty="0" sz="5350" spc="-409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unda</a:t>
            </a:r>
            <a:r>
              <a:rPr dirty="0" sz="5350" spc="-34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>
                <a:solidFill>
                  <a:srgbClr val="0040A3"/>
                </a:solidFill>
                <a:latin typeface="Tahoma"/>
                <a:cs typeface="Tahoma"/>
              </a:rPr>
              <a:t>tijorat</a:t>
            </a:r>
            <a:r>
              <a:rPr dirty="0" sz="5350" spc="-34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20">
                <a:solidFill>
                  <a:srgbClr val="0040A3"/>
                </a:solidFill>
                <a:latin typeface="Tahoma"/>
                <a:cs typeface="Tahoma"/>
              </a:rPr>
              <a:t>banklarining</a:t>
            </a:r>
            <a:r>
              <a:rPr dirty="0" sz="5350" spc="-34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20">
                <a:solidFill>
                  <a:srgbClr val="0040A3"/>
                </a:solidFill>
                <a:latin typeface="Tahoma"/>
                <a:cs typeface="Tahoma"/>
              </a:rPr>
              <a:t>ro’li</a:t>
            </a:r>
            <a:endParaRPr sz="5350">
              <a:latin typeface="Tahoma"/>
              <a:cs typeface="Tahoma"/>
            </a:endParaRPr>
          </a:p>
          <a:p>
            <a:pPr marL="568960" indent="-568325">
              <a:lnSpc>
                <a:spcPct val="100000"/>
              </a:lnSpc>
              <a:spcBef>
                <a:spcPts val="1095"/>
              </a:spcBef>
              <a:buClr>
                <a:srgbClr val="1A1A2E"/>
              </a:buClr>
              <a:buSzPct val="87850"/>
              <a:buAutoNum type="arabicPeriod"/>
              <a:tabLst>
                <a:tab pos="568960" algn="l"/>
              </a:tabLst>
            </a:pPr>
            <a:r>
              <a:rPr dirty="0" sz="5350" spc="-20">
                <a:solidFill>
                  <a:srgbClr val="0040A3"/>
                </a:solidFill>
                <a:latin typeface="Tahoma"/>
                <a:cs typeface="Tahoma"/>
              </a:rPr>
              <a:t>Kredit:mohiyati,turlari</a:t>
            </a:r>
            <a:r>
              <a:rPr dirty="0" sz="5350" spc="-395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va</a:t>
            </a:r>
            <a:r>
              <a:rPr dirty="0" sz="5350" spc="-254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50">
                <a:solidFill>
                  <a:srgbClr val="0040A3"/>
                </a:solidFill>
                <a:latin typeface="Tahoma"/>
                <a:cs typeface="Tahoma"/>
              </a:rPr>
              <a:t>iqtisodiy</a:t>
            </a:r>
            <a:r>
              <a:rPr dirty="0" sz="5350" spc="-39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ahamiyati</a:t>
            </a:r>
            <a:endParaRPr sz="5350">
              <a:latin typeface="Tahoma"/>
              <a:cs typeface="Tahoma"/>
            </a:endParaRPr>
          </a:p>
          <a:p>
            <a:pPr marL="520065" marR="2062480" indent="-519430">
              <a:lnSpc>
                <a:spcPts val="7509"/>
              </a:lnSpc>
              <a:spcBef>
                <a:spcPts val="235"/>
              </a:spcBef>
              <a:buClr>
                <a:srgbClr val="1A1A2E"/>
              </a:buClr>
              <a:buSzPct val="87850"/>
              <a:buAutoNum type="arabicPeriod"/>
              <a:tabLst>
                <a:tab pos="535940" algn="l"/>
              </a:tabLst>
            </a:pP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Tijorat</a:t>
            </a:r>
            <a:r>
              <a:rPr dirty="0" sz="5350" spc="-30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20">
                <a:solidFill>
                  <a:srgbClr val="0040A3"/>
                </a:solidFill>
                <a:latin typeface="Tahoma"/>
                <a:cs typeface="Tahoma"/>
              </a:rPr>
              <a:t>banklarining</a:t>
            </a:r>
            <a:r>
              <a:rPr dirty="0" sz="5350" spc="-30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>
                <a:solidFill>
                  <a:srgbClr val="0040A3"/>
                </a:solidFill>
                <a:latin typeface="Tahoma"/>
                <a:cs typeface="Tahoma"/>
              </a:rPr>
              <a:t>kredit</a:t>
            </a:r>
            <a:r>
              <a:rPr dirty="0" sz="5350" spc="-30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>
                <a:solidFill>
                  <a:srgbClr val="0040A3"/>
                </a:solidFill>
                <a:latin typeface="Tahoma"/>
                <a:cs typeface="Tahoma"/>
              </a:rPr>
              <a:t>siyosati</a:t>
            </a:r>
            <a:r>
              <a:rPr dirty="0" sz="5350" spc="-430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va</a:t>
            </a:r>
            <a:r>
              <a:rPr dirty="0" sz="5350" spc="-295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uning 	asosiy</a:t>
            </a:r>
            <a:r>
              <a:rPr dirty="0" sz="5350" spc="-425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5350" spc="-10">
                <a:solidFill>
                  <a:srgbClr val="0040A3"/>
                </a:solidFill>
                <a:latin typeface="Tahoma"/>
                <a:cs typeface="Tahoma"/>
              </a:rPr>
              <a:t>xususiyatlari</a:t>
            </a:r>
            <a:endParaRPr sz="53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790265" y="723770"/>
            <a:ext cx="839469" cy="793115"/>
          </a:xfrm>
          <a:custGeom>
            <a:avLst/>
            <a:gdLst/>
            <a:ahLst/>
            <a:cxnLst/>
            <a:rect l="l" t="t" r="r" b="b"/>
            <a:pathLst>
              <a:path w="839469" h="793115">
                <a:moveTo>
                  <a:pt x="85494" y="657380"/>
                </a:moveTo>
                <a:lnTo>
                  <a:pt x="0" y="393125"/>
                </a:lnTo>
                <a:lnTo>
                  <a:pt x="201" y="393125"/>
                </a:lnTo>
                <a:lnTo>
                  <a:pt x="195834" y="329467"/>
                </a:lnTo>
                <a:lnTo>
                  <a:pt x="74615" y="163179"/>
                </a:lnTo>
                <a:lnTo>
                  <a:pt x="298404" y="0"/>
                </a:lnTo>
                <a:lnTo>
                  <a:pt x="419623" y="166287"/>
                </a:lnTo>
                <a:lnTo>
                  <a:pt x="762366" y="166287"/>
                </a:lnTo>
                <a:lnTo>
                  <a:pt x="643412" y="329467"/>
                </a:lnTo>
                <a:lnTo>
                  <a:pt x="839046" y="393125"/>
                </a:lnTo>
                <a:lnTo>
                  <a:pt x="839046" y="393747"/>
                </a:lnTo>
                <a:lnTo>
                  <a:pt x="774367" y="593662"/>
                </a:lnTo>
                <a:lnTo>
                  <a:pt x="281309" y="593662"/>
                </a:lnTo>
                <a:lnTo>
                  <a:pt x="85494" y="657380"/>
                </a:lnTo>
                <a:close/>
              </a:path>
              <a:path w="839469" h="793115">
                <a:moveTo>
                  <a:pt x="762366" y="166287"/>
                </a:moveTo>
                <a:lnTo>
                  <a:pt x="419623" y="166287"/>
                </a:lnTo>
                <a:lnTo>
                  <a:pt x="540842" y="0"/>
                </a:lnTo>
                <a:lnTo>
                  <a:pt x="764631" y="163179"/>
                </a:lnTo>
                <a:lnTo>
                  <a:pt x="762366" y="166287"/>
                </a:lnTo>
                <a:close/>
              </a:path>
              <a:path w="839469" h="793115">
                <a:moveTo>
                  <a:pt x="557937" y="792586"/>
                </a:moveTo>
                <a:lnTo>
                  <a:pt x="281309" y="792586"/>
                </a:lnTo>
                <a:lnTo>
                  <a:pt x="281309" y="593662"/>
                </a:lnTo>
                <a:lnTo>
                  <a:pt x="557937" y="593662"/>
                </a:lnTo>
                <a:lnTo>
                  <a:pt x="557937" y="792586"/>
                </a:lnTo>
                <a:close/>
              </a:path>
              <a:path w="839469" h="793115">
                <a:moveTo>
                  <a:pt x="753753" y="657380"/>
                </a:moveTo>
                <a:lnTo>
                  <a:pt x="557937" y="593662"/>
                </a:lnTo>
                <a:lnTo>
                  <a:pt x="774367" y="593662"/>
                </a:lnTo>
                <a:lnTo>
                  <a:pt x="753753" y="657380"/>
                </a:lnTo>
                <a:close/>
              </a:path>
            </a:pathLst>
          </a:custGeom>
          <a:solidFill>
            <a:srgbClr val="0040A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7759620" y="1836227"/>
            <a:ext cx="120713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450">
                <a:solidFill>
                  <a:srgbClr val="1A1A2E"/>
                </a:solidFill>
              </a:rPr>
              <a:t>Reja</a:t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4428" y="1146285"/>
            <a:ext cx="12001499" cy="7991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78965" rIns="0" bIns="0" rtlCol="0" vert="horz">
            <a:spAutoFit/>
          </a:bodyPr>
          <a:lstStyle/>
          <a:p>
            <a:pPr marL="1162050">
              <a:lnSpc>
                <a:spcPct val="100000"/>
              </a:lnSpc>
              <a:spcBef>
                <a:spcPts val="100"/>
              </a:spcBef>
            </a:pPr>
            <a:r>
              <a:rPr dirty="0" sz="8300">
                <a:latin typeface="Cambria"/>
                <a:cs typeface="Cambria"/>
              </a:rPr>
              <a:t>Bozor</a:t>
            </a:r>
            <a:r>
              <a:rPr dirty="0" sz="8300" spc="-310">
                <a:latin typeface="Cambria"/>
                <a:cs typeface="Cambria"/>
              </a:rPr>
              <a:t> </a:t>
            </a:r>
            <a:r>
              <a:rPr dirty="0" sz="8300" spc="-45">
                <a:latin typeface="Cambria"/>
                <a:cs typeface="Cambria"/>
              </a:rPr>
              <a:t>iqtisodiyoti</a:t>
            </a:r>
            <a:r>
              <a:rPr dirty="0" sz="8300" spc="-355">
                <a:latin typeface="Cambria"/>
                <a:cs typeface="Cambria"/>
              </a:rPr>
              <a:t> </a:t>
            </a:r>
            <a:r>
              <a:rPr dirty="0" sz="8300">
                <a:latin typeface="Cambria"/>
                <a:cs typeface="Cambria"/>
              </a:rPr>
              <a:t>va</a:t>
            </a:r>
            <a:r>
              <a:rPr dirty="0" sz="8300" spc="-195">
                <a:latin typeface="Cambria"/>
                <a:cs typeface="Cambria"/>
              </a:rPr>
              <a:t> </a:t>
            </a:r>
            <a:r>
              <a:rPr dirty="0" sz="8300" spc="-10">
                <a:latin typeface="Cambria"/>
                <a:cs typeface="Cambria"/>
              </a:rPr>
              <a:t>banklar</a:t>
            </a:r>
            <a:endParaRPr sz="83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1770" rIns="0" bIns="0" rtlCol="0" vert="horz">
            <a:spAutoFit/>
          </a:bodyPr>
          <a:lstStyle/>
          <a:p>
            <a:pPr marL="760095" indent="-754380">
              <a:lnSpc>
                <a:spcPct val="100000"/>
              </a:lnSpc>
              <a:spcBef>
                <a:spcPts val="1510"/>
              </a:spcBef>
              <a:buSzPct val="85416"/>
              <a:buAutoNum type="arabicPeriod"/>
              <a:tabLst>
                <a:tab pos="760095" algn="l"/>
              </a:tabLst>
            </a:pPr>
            <a:r>
              <a:rPr dirty="0" spc="-455"/>
              <a:t>Xusuiy</a:t>
            </a:r>
            <a:r>
              <a:rPr dirty="0" spc="-530"/>
              <a:t> </a:t>
            </a:r>
            <a:r>
              <a:rPr dirty="0" spc="-520"/>
              <a:t>mulkchilik</a:t>
            </a:r>
          </a:p>
          <a:p>
            <a:pPr marL="760095" indent="-754380">
              <a:lnSpc>
                <a:spcPct val="100000"/>
              </a:lnSpc>
              <a:spcBef>
                <a:spcPts val="1410"/>
              </a:spcBef>
              <a:buSzPct val="85416"/>
              <a:buAutoNum type="arabicPeriod"/>
              <a:tabLst>
                <a:tab pos="760095" algn="l"/>
              </a:tabLst>
            </a:pPr>
            <a:r>
              <a:rPr dirty="0" spc="-550"/>
              <a:t>Raqobat</a:t>
            </a:r>
          </a:p>
          <a:p>
            <a:pPr marL="760095" indent="-754380">
              <a:lnSpc>
                <a:spcPct val="100000"/>
              </a:lnSpc>
              <a:spcBef>
                <a:spcPts val="1410"/>
              </a:spcBef>
              <a:buSzPct val="85416"/>
              <a:buAutoNum type="arabicPeriod"/>
              <a:tabLst>
                <a:tab pos="760095" algn="l"/>
              </a:tabLst>
            </a:pPr>
            <a:r>
              <a:rPr dirty="0" spc="-480"/>
              <a:t>Narx</a:t>
            </a:r>
            <a:r>
              <a:rPr dirty="0" spc="-360"/>
              <a:t> </a:t>
            </a:r>
            <a:r>
              <a:rPr dirty="0" spc="-535"/>
              <a:t>signallari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65"/>
              <a:t>Tijorat</a:t>
            </a:r>
            <a:r>
              <a:rPr dirty="0" spc="-355"/>
              <a:t> </a:t>
            </a:r>
            <a:r>
              <a:rPr dirty="0" spc="-535"/>
              <a:t>banklari</a:t>
            </a:r>
          </a:p>
        </p:txBody>
      </p:sp>
      <p:sp>
        <p:nvSpPr>
          <p:cNvPr id="3" name="object 3"/>
          <p:cNvSpPr/>
          <p:nvPr/>
        </p:nvSpPr>
        <p:spPr>
          <a:xfrm>
            <a:off x="7308145" y="6172199"/>
            <a:ext cx="3620770" cy="85725"/>
          </a:xfrm>
          <a:custGeom>
            <a:avLst/>
            <a:gdLst/>
            <a:ahLst/>
            <a:cxnLst/>
            <a:rect l="l" t="t" r="r" b="b"/>
            <a:pathLst>
              <a:path w="3620770" h="85725">
                <a:moveTo>
                  <a:pt x="3620690" y="85724"/>
                </a:moveTo>
                <a:lnTo>
                  <a:pt x="0" y="85724"/>
                </a:lnTo>
                <a:lnTo>
                  <a:pt x="0" y="0"/>
                </a:lnTo>
                <a:lnTo>
                  <a:pt x="3620690" y="0"/>
                </a:lnTo>
                <a:lnTo>
                  <a:pt x="3620690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45088" y="3742055"/>
            <a:ext cx="11798300" cy="257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14525">
              <a:lnSpc>
                <a:spcPct val="116300"/>
              </a:lnSpc>
              <a:spcBef>
                <a:spcPts val="100"/>
              </a:spcBef>
            </a:pPr>
            <a:r>
              <a:rPr dirty="0" sz="7200" spc="-530" b="1">
                <a:latin typeface="Tahoma"/>
                <a:cs typeface="Tahoma"/>
              </a:rPr>
              <a:t>bu</a:t>
            </a:r>
            <a:r>
              <a:rPr dirty="0" sz="7200" spc="-355" b="1">
                <a:latin typeface="Tahoma"/>
                <a:cs typeface="Tahoma"/>
              </a:rPr>
              <a:t> </a:t>
            </a:r>
            <a:r>
              <a:rPr dirty="0" sz="7200" spc="-530" b="1">
                <a:latin typeface="Tahoma"/>
                <a:cs typeface="Tahoma"/>
              </a:rPr>
              <a:t>litsenziyalangan </a:t>
            </a:r>
            <a:r>
              <a:rPr dirty="0" sz="7200" spc="-484" b="1">
                <a:latin typeface="Tahoma"/>
                <a:cs typeface="Tahoma"/>
              </a:rPr>
              <a:t>moliyaviy</a:t>
            </a:r>
            <a:r>
              <a:rPr dirty="0" sz="7200" spc="-685" b="1">
                <a:latin typeface="Tahoma"/>
                <a:cs typeface="Tahoma"/>
              </a:rPr>
              <a:t> </a:t>
            </a:r>
            <a:r>
              <a:rPr dirty="0" sz="7200" spc="-450" b="1">
                <a:latin typeface="Tahoma"/>
                <a:cs typeface="Tahoma"/>
              </a:rPr>
              <a:t>vositachi</a:t>
            </a:r>
            <a:r>
              <a:rPr dirty="0" sz="7200" spc="-315" b="1">
                <a:latin typeface="Tahoma"/>
                <a:cs typeface="Tahoma"/>
              </a:rPr>
              <a:t> </a:t>
            </a:r>
            <a:r>
              <a:rPr dirty="0" sz="7200" spc="-660" b="1">
                <a:latin typeface="Tahoma"/>
                <a:cs typeface="Tahoma"/>
              </a:rPr>
              <a:t>muassasa</a:t>
            </a:r>
            <a:endParaRPr sz="7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08069" y="991233"/>
            <a:ext cx="11071860" cy="6359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200" spc="-465" b="1">
                <a:solidFill>
                  <a:srgbClr val="0040A3"/>
                </a:solidFill>
                <a:latin typeface="Tahoma"/>
                <a:cs typeface="Tahoma"/>
              </a:rPr>
              <a:t>Tijorat</a:t>
            </a:r>
            <a:r>
              <a:rPr dirty="0" sz="7200" spc="-34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7200" spc="-525" b="1">
                <a:solidFill>
                  <a:srgbClr val="0040A3"/>
                </a:solidFill>
                <a:latin typeface="Tahoma"/>
                <a:cs typeface="Tahoma"/>
              </a:rPr>
              <a:t>banklari</a:t>
            </a:r>
            <a:r>
              <a:rPr dirty="0" sz="7200" spc="-34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7200" spc="-495" b="1">
                <a:solidFill>
                  <a:srgbClr val="0040A3"/>
                </a:solidFill>
                <a:latin typeface="Tahoma"/>
                <a:cs typeface="Tahoma"/>
              </a:rPr>
              <a:t>funksiyalari</a:t>
            </a:r>
            <a:endParaRPr sz="7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0"/>
              </a:spcBef>
            </a:pPr>
            <a:endParaRPr sz="7200">
              <a:latin typeface="Tahoma"/>
              <a:cs typeface="Tahoma"/>
            </a:endParaRPr>
          </a:p>
          <a:p>
            <a:pPr marL="1837689" indent="-869950">
              <a:lnSpc>
                <a:spcPct val="100000"/>
              </a:lnSpc>
              <a:buSzPct val="98611"/>
              <a:buAutoNum type="arabicPeriod"/>
              <a:tabLst>
                <a:tab pos="1837689" algn="l"/>
              </a:tabLst>
            </a:pPr>
            <a:r>
              <a:rPr dirty="0" sz="7200" spc="-415" b="1">
                <a:latin typeface="Tahoma"/>
                <a:cs typeface="Tahoma"/>
              </a:rPr>
              <a:t>Pul</a:t>
            </a:r>
            <a:r>
              <a:rPr dirty="0" sz="7200" spc="-540" b="1">
                <a:latin typeface="Tahoma"/>
                <a:cs typeface="Tahoma"/>
              </a:rPr>
              <a:t> </a:t>
            </a:r>
            <a:r>
              <a:rPr dirty="0" sz="7200" spc="-535" b="1">
                <a:latin typeface="Tahoma"/>
                <a:cs typeface="Tahoma"/>
              </a:rPr>
              <a:t>yaratish</a:t>
            </a:r>
            <a:endParaRPr sz="7200">
              <a:latin typeface="Tahoma"/>
              <a:cs typeface="Tahoma"/>
            </a:endParaRPr>
          </a:p>
          <a:p>
            <a:pPr marL="1837689" indent="-869950">
              <a:lnSpc>
                <a:spcPct val="100000"/>
              </a:lnSpc>
              <a:spcBef>
                <a:spcPts val="1410"/>
              </a:spcBef>
              <a:buSzPct val="98611"/>
              <a:buAutoNum type="arabicPeriod"/>
              <a:tabLst>
                <a:tab pos="1837689" algn="l"/>
              </a:tabLst>
            </a:pPr>
            <a:r>
              <a:rPr dirty="0" sz="7200" spc="-434" b="1">
                <a:latin typeface="Tahoma"/>
                <a:cs typeface="Tahoma"/>
              </a:rPr>
              <a:t>Kapital</a:t>
            </a:r>
            <a:r>
              <a:rPr dirty="0" sz="7200" spc="-335" b="1">
                <a:latin typeface="Tahoma"/>
                <a:cs typeface="Tahoma"/>
              </a:rPr>
              <a:t> </a:t>
            </a:r>
            <a:r>
              <a:rPr dirty="0" sz="7200" spc="-560" b="1">
                <a:latin typeface="Tahoma"/>
                <a:cs typeface="Tahoma"/>
              </a:rPr>
              <a:t>taqsimlash</a:t>
            </a:r>
            <a:endParaRPr sz="7200">
              <a:latin typeface="Tahoma"/>
              <a:cs typeface="Tahoma"/>
            </a:endParaRPr>
          </a:p>
          <a:p>
            <a:pPr marL="1837689" indent="-869950">
              <a:lnSpc>
                <a:spcPct val="100000"/>
              </a:lnSpc>
              <a:spcBef>
                <a:spcPts val="1410"/>
              </a:spcBef>
              <a:buSzPct val="98611"/>
              <a:buAutoNum type="arabicPeriod"/>
              <a:tabLst>
                <a:tab pos="1837689" algn="l"/>
              </a:tabLst>
            </a:pPr>
            <a:r>
              <a:rPr dirty="0" sz="7200" spc="-509" b="1">
                <a:latin typeface="Tahoma"/>
                <a:cs typeface="Tahoma"/>
              </a:rPr>
              <a:t>Risklarni</a:t>
            </a:r>
            <a:r>
              <a:rPr dirty="0" sz="7200" spc="-330" b="1">
                <a:latin typeface="Tahoma"/>
                <a:cs typeface="Tahoma"/>
              </a:rPr>
              <a:t> </a:t>
            </a:r>
            <a:r>
              <a:rPr dirty="0" sz="7200" spc="-515" b="1">
                <a:latin typeface="Tahoma"/>
                <a:cs typeface="Tahoma"/>
              </a:rPr>
              <a:t>boshqarish</a:t>
            </a:r>
            <a:endParaRPr sz="7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2007" y="1938670"/>
            <a:ext cx="10782299" cy="7315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533775">
              <a:lnSpc>
                <a:spcPct val="100000"/>
              </a:lnSpc>
              <a:spcBef>
                <a:spcPts val="100"/>
              </a:spcBef>
            </a:pPr>
            <a:r>
              <a:rPr dirty="0" spc="-465">
                <a:solidFill>
                  <a:srgbClr val="000000"/>
                </a:solidFill>
              </a:rPr>
              <a:t>Tijorat</a:t>
            </a:r>
            <a:r>
              <a:rPr dirty="0" spc="-340">
                <a:solidFill>
                  <a:srgbClr val="000000"/>
                </a:solidFill>
              </a:rPr>
              <a:t> </a:t>
            </a:r>
            <a:r>
              <a:rPr dirty="0" spc="-525">
                <a:solidFill>
                  <a:srgbClr val="000000"/>
                </a:solidFill>
              </a:rPr>
              <a:t>banklari</a:t>
            </a:r>
            <a:r>
              <a:rPr dirty="0" spc="-340">
                <a:solidFill>
                  <a:srgbClr val="000000"/>
                </a:solidFill>
              </a:rPr>
              <a:t> </a:t>
            </a:r>
            <a:r>
              <a:rPr dirty="0" spc="-545">
                <a:solidFill>
                  <a:srgbClr val="000000"/>
                </a:solidFill>
              </a:rPr>
              <a:t>balansi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7470" y="2257107"/>
            <a:ext cx="15693390" cy="55975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16100"/>
              </a:lnSpc>
              <a:spcBef>
                <a:spcPts val="95"/>
              </a:spcBef>
            </a:pPr>
            <a:r>
              <a:rPr dirty="0" sz="6300" spc="-405" b="1">
                <a:solidFill>
                  <a:srgbClr val="0040A3"/>
                </a:solidFill>
                <a:latin typeface="Tahoma"/>
                <a:cs typeface="Tahoma"/>
              </a:rPr>
              <a:t>Tijorat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59" b="1">
                <a:solidFill>
                  <a:srgbClr val="0040A3"/>
                </a:solidFill>
                <a:latin typeface="Tahoma"/>
                <a:cs typeface="Tahoma"/>
              </a:rPr>
              <a:t>banklari</a:t>
            </a:r>
            <a:r>
              <a:rPr dirty="0" sz="6300" spc="-29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390" b="1">
                <a:solidFill>
                  <a:srgbClr val="0040A3"/>
                </a:solidFill>
                <a:latin typeface="Tahoma"/>
                <a:cs typeface="Tahoma"/>
              </a:rPr>
              <a:t>kredit</a:t>
            </a:r>
            <a:r>
              <a:rPr dirty="0" sz="6300" spc="-29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505" b="1">
                <a:solidFill>
                  <a:srgbClr val="0040A3"/>
                </a:solidFill>
                <a:latin typeface="Tahoma"/>
                <a:cs typeface="Tahoma"/>
              </a:rPr>
              <a:t>berganda</a:t>
            </a:r>
            <a:r>
              <a:rPr dirty="0" sz="6300" spc="-45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95" b="1">
                <a:solidFill>
                  <a:srgbClr val="0040A3"/>
                </a:solidFill>
                <a:latin typeface="Tahoma"/>
                <a:cs typeface="Tahoma"/>
              </a:rPr>
              <a:t>yangi</a:t>
            </a:r>
            <a:r>
              <a:rPr dirty="0" sz="6300" spc="-29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34" b="1">
                <a:solidFill>
                  <a:srgbClr val="0040A3"/>
                </a:solidFill>
                <a:latin typeface="Tahoma"/>
                <a:cs typeface="Tahoma"/>
              </a:rPr>
              <a:t>pul </a:t>
            </a:r>
            <a:r>
              <a:rPr dirty="0" sz="6300" spc="-455" b="1">
                <a:solidFill>
                  <a:srgbClr val="1A1A2E"/>
                </a:solidFill>
                <a:latin typeface="Tahoma"/>
                <a:cs typeface="Tahoma"/>
              </a:rPr>
              <a:t>“</a:t>
            </a:r>
            <a:r>
              <a:rPr dirty="0" sz="6300" spc="-540" b="1">
                <a:solidFill>
                  <a:srgbClr val="1A1A2E"/>
                </a:solidFill>
                <a:latin typeface="Tahoma"/>
                <a:cs typeface="Tahoma"/>
              </a:rPr>
              <a:t>y</a:t>
            </a:r>
            <a:r>
              <a:rPr dirty="0" sz="6300" spc="-455" b="1">
                <a:solidFill>
                  <a:srgbClr val="1A1A2E"/>
                </a:solidFill>
                <a:latin typeface="Tahoma"/>
                <a:cs typeface="Tahoma"/>
              </a:rPr>
              <a:t>a</a:t>
            </a:r>
            <a:r>
              <a:rPr dirty="0" sz="6300" spc="-509" b="1">
                <a:solidFill>
                  <a:srgbClr val="1A1A2E"/>
                </a:solidFill>
                <a:latin typeface="Tahoma"/>
                <a:cs typeface="Tahoma"/>
              </a:rPr>
              <a:t>ra</a:t>
            </a:r>
            <a:r>
              <a:rPr dirty="0" sz="6300" spc="-455" b="1">
                <a:solidFill>
                  <a:srgbClr val="1A1A2E"/>
                </a:solidFill>
                <a:latin typeface="Tahoma"/>
                <a:cs typeface="Tahoma"/>
              </a:rPr>
              <a:t>tiladi</a:t>
            </a:r>
            <a:r>
              <a:rPr dirty="0" sz="6300" spc="-1350" b="1">
                <a:solidFill>
                  <a:srgbClr val="1A1A2E"/>
                </a:solidFill>
                <a:latin typeface="Tahoma"/>
                <a:cs typeface="Tahoma"/>
              </a:rPr>
              <a:t>”</a:t>
            </a:r>
            <a:r>
              <a:rPr dirty="0" sz="6300" spc="-455" b="1">
                <a:solidFill>
                  <a:srgbClr val="0040A3"/>
                </a:solidFill>
                <a:latin typeface="Tahoma"/>
                <a:cs typeface="Tahoma"/>
              </a:rPr>
              <a:t>.</a:t>
            </a:r>
            <a:r>
              <a:rPr dirty="0" sz="6300" spc="-28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355" b="1">
                <a:solidFill>
                  <a:srgbClr val="0040A3"/>
                </a:solidFill>
                <a:latin typeface="Tahoma"/>
                <a:cs typeface="Tahoma"/>
              </a:rPr>
              <a:t>Qarzni</a:t>
            </a:r>
            <a:r>
              <a:rPr dirty="0" sz="6300" spc="-28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55" b="1">
                <a:solidFill>
                  <a:srgbClr val="0040A3"/>
                </a:solidFill>
                <a:latin typeface="Tahoma"/>
                <a:cs typeface="Tahoma"/>
              </a:rPr>
              <a:t>qaytarishda</a:t>
            </a:r>
            <a:r>
              <a:rPr dirty="0" sz="6300" spc="-28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90" b="1">
                <a:solidFill>
                  <a:srgbClr val="0040A3"/>
                </a:solidFill>
                <a:latin typeface="Tahoma"/>
                <a:cs typeface="Tahoma"/>
              </a:rPr>
              <a:t>esa</a:t>
            </a:r>
            <a:r>
              <a:rPr dirty="0" sz="6300" spc="-28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65" b="1">
                <a:solidFill>
                  <a:srgbClr val="0040A3"/>
                </a:solidFill>
                <a:latin typeface="Tahoma"/>
                <a:cs typeface="Tahoma"/>
              </a:rPr>
              <a:t>olingan </a:t>
            </a:r>
            <a:r>
              <a:rPr dirty="0" sz="6300" spc="-415" b="1">
                <a:solidFill>
                  <a:srgbClr val="0040A3"/>
                </a:solidFill>
                <a:latin typeface="Tahoma"/>
                <a:cs typeface="Tahoma"/>
              </a:rPr>
              <a:t>asosiy</a:t>
            </a:r>
            <a:r>
              <a:rPr dirty="0" sz="6300" spc="-459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630" b="1">
                <a:solidFill>
                  <a:srgbClr val="0040A3"/>
                </a:solidFill>
                <a:latin typeface="Tahoma"/>
                <a:cs typeface="Tahoma"/>
              </a:rPr>
              <a:t>summa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580" b="1">
                <a:solidFill>
                  <a:srgbClr val="0040A3"/>
                </a:solidFill>
                <a:latin typeface="Tahoma"/>
                <a:cs typeface="Tahoma"/>
              </a:rPr>
              <a:t>(kredit)</a:t>
            </a:r>
            <a:r>
              <a:rPr dirty="0" sz="6300" spc="-29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395" b="1">
                <a:solidFill>
                  <a:srgbClr val="0040A3"/>
                </a:solidFill>
                <a:latin typeface="Tahoma"/>
                <a:cs typeface="Tahoma"/>
              </a:rPr>
              <a:t>iqtisoddan</a:t>
            </a:r>
            <a:r>
              <a:rPr dirty="0" sz="6300" spc="-295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15" b="1">
                <a:solidFill>
                  <a:srgbClr val="1A1A2E"/>
                </a:solidFill>
                <a:latin typeface="Tahoma"/>
                <a:cs typeface="Tahoma"/>
              </a:rPr>
              <a:t>“</a:t>
            </a:r>
            <a:r>
              <a:rPr dirty="0" sz="6300" spc="-535" b="1">
                <a:solidFill>
                  <a:srgbClr val="1A1A2E"/>
                </a:solidFill>
                <a:latin typeface="Tahoma"/>
                <a:cs typeface="Tahoma"/>
              </a:rPr>
              <a:t>y</a:t>
            </a:r>
            <a:r>
              <a:rPr dirty="0" sz="6300" spc="-590" b="1">
                <a:solidFill>
                  <a:srgbClr val="1A1A2E"/>
                </a:solidFill>
                <a:latin typeface="Tahoma"/>
                <a:cs typeface="Tahoma"/>
              </a:rPr>
              <a:t>o</a:t>
            </a:r>
            <a:r>
              <a:rPr dirty="0" sz="6300" spc="-685" b="1">
                <a:solidFill>
                  <a:srgbClr val="1A1A2E"/>
                </a:solidFill>
                <a:latin typeface="Tahoma"/>
                <a:cs typeface="Tahoma"/>
              </a:rPr>
              <a:t>‘</a:t>
            </a:r>
            <a:r>
              <a:rPr dirty="0" sz="6300" spc="-415" b="1">
                <a:solidFill>
                  <a:srgbClr val="1A1A2E"/>
                </a:solidFill>
                <a:latin typeface="Tahoma"/>
                <a:cs typeface="Tahoma"/>
              </a:rPr>
              <a:t>qoladi</a:t>
            </a:r>
            <a:r>
              <a:rPr dirty="0" sz="6300" spc="-1310" b="1">
                <a:solidFill>
                  <a:srgbClr val="1A1A2E"/>
                </a:solidFill>
                <a:latin typeface="Tahoma"/>
                <a:cs typeface="Tahoma"/>
              </a:rPr>
              <a:t>”</a:t>
            </a:r>
            <a:r>
              <a:rPr dirty="0" sz="6300" spc="-415" b="1">
                <a:solidFill>
                  <a:srgbClr val="0040A3"/>
                </a:solidFill>
                <a:latin typeface="Tahoma"/>
                <a:cs typeface="Tahoma"/>
              </a:rPr>
              <a:t>.</a:t>
            </a:r>
            <a:endParaRPr sz="6300">
              <a:latin typeface="Tahoma"/>
              <a:cs typeface="Tahoma"/>
            </a:endParaRPr>
          </a:p>
          <a:p>
            <a:pPr algn="ctr" marL="748030" marR="740410">
              <a:lnSpc>
                <a:spcPts val="8780"/>
              </a:lnSpc>
              <a:spcBef>
                <a:spcPts val="290"/>
              </a:spcBef>
            </a:pPr>
            <a:r>
              <a:rPr dirty="0" sz="6300" spc="-455" b="1">
                <a:solidFill>
                  <a:srgbClr val="0040A3"/>
                </a:solidFill>
                <a:latin typeface="Tahoma"/>
                <a:cs typeface="Tahoma"/>
              </a:rPr>
              <a:t>Ammo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320" b="1">
                <a:solidFill>
                  <a:srgbClr val="0040A3"/>
                </a:solidFill>
                <a:latin typeface="Tahoma"/>
                <a:cs typeface="Tahoma"/>
              </a:rPr>
              <a:t>foiz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55" b="1">
                <a:solidFill>
                  <a:srgbClr val="0040A3"/>
                </a:solidFill>
                <a:latin typeface="Tahoma"/>
                <a:cs typeface="Tahoma"/>
              </a:rPr>
              <a:t>qismi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500" b="1">
                <a:solidFill>
                  <a:srgbClr val="0040A3"/>
                </a:solidFill>
                <a:latin typeface="Tahoma"/>
                <a:cs typeface="Tahoma"/>
              </a:rPr>
              <a:t>bank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84" b="1">
                <a:solidFill>
                  <a:srgbClr val="0040A3"/>
                </a:solidFill>
                <a:latin typeface="Tahoma"/>
                <a:cs typeface="Tahoma"/>
              </a:rPr>
              <a:t>daromadi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25" b="1">
                <a:solidFill>
                  <a:srgbClr val="0040A3"/>
                </a:solidFill>
                <a:latin typeface="Tahoma"/>
                <a:cs typeface="Tahoma"/>
              </a:rPr>
              <a:t>sifatida </a:t>
            </a:r>
            <a:r>
              <a:rPr dirty="0" sz="6300" spc="-385" b="1">
                <a:solidFill>
                  <a:srgbClr val="0040A3"/>
                </a:solidFill>
                <a:latin typeface="Tahoma"/>
                <a:cs typeface="Tahoma"/>
              </a:rPr>
              <a:t>iqtisodda</a:t>
            </a:r>
            <a:r>
              <a:rPr dirty="0" sz="6300" spc="-300" b="1">
                <a:solidFill>
                  <a:srgbClr val="0040A3"/>
                </a:solidFill>
                <a:latin typeface="Tahoma"/>
                <a:cs typeface="Tahoma"/>
              </a:rPr>
              <a:t> </a:t>
            </a:r>
            <a:r>
              <a:rPr dirty="0" sz="6300" spc="-415" b="1">
                <a:solidFill>
                  <a:srgbClr val="0040A3"/>
                </a:solidFill>
                <a:latin typeface="Tahoma"/>
                <a:cs typeface="Tahoma"/>
              </a:rPr>
              <a:t>qoladi.</a:t>
            </a:r>
            <a:endParaRPr sz="6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83236" y="9003189"/>
            <a:ext cx="17780" cy="76200"/>
          </a:xfrm>
          <a:custGeom>
            <a:avLst/>
            <a:gdLst/>
            <a:ahLst/>
            <a:cxnLst/>
            <a:rect l="l" t="t" r="r" b="b"/>
            <a:pathLst>
              <a:path w="17779" h="76200">
                <a:moveTo>
                  <a:pt x="17637" y="76199"/>
                </a:moveTo>
                <a:lnTo>
                  <a:pt x="0" y="76199"/>
                </a:lnTo>
                <a:lnTo>
                  <a:pt x="0" y="0"/>
                </a:lnTo>
                <a:lnTo>
                  <a:pt x="17637" y="0"/>
                </a:lnTo>
                <a:lnTo>
                  <a:pt x="17637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794759" y="9003189"/>
            <a:ext cx="4401820" cy="76200"/>
          </a:xfrm>
          <a:custGeom>
            <a:avLst/>
            <a:gdLst/>
            <a:ahLst/>
            <a:cxnLst/>
            <a:rect l="l" t="t" r="r" b="b"/>
            <a:pathLst>
              <a:path w="4401819" h="76200">
                <a:moveTo>
                  <a:pt x="4401743" y="76199"/>
                </a:moveTo>
                <a:lnTo>
                  <a:pt x="0" y="76199"/>
                </a:lnTo>
                <a:lnTo>
                  <a:pt x="0" y="0"/>
                </a:lnTo>
                <a:lnTo>
                  <a:pt x="4401743" y="0"/>
                </a:lnTo>
                <a:lnTo>
                  <a:pt x="4401743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3490387" y="9003189"/>
            <a:ext cx="942975" cy="76200"/>
          </a:xfrm>
          <a:custGeom>
            <a:avLst/>
            <a:gdLst/>
            <a:ahLst/>
            <a:cxnLst/>
            <a:rect l="l" t="t" r="r" b="b"/>
            <a:pathLst>
              <a:path w="942975" h="76200">
                <a:moveTo>
                  <a:pt x="942572" y="76199"/>
                </a:moveTo>
                <a:lnTo>
                  <a:pt x="0" y="76199"/>
                </a:lnTo>
                <a:lnTo>
                  <a:pt x="0" y="0"/>
                </a:lnTo>
                <a:lnTo>
                  <a:pt x="942572" y="0"/>
                </a:lnTo>
                <a:lnTo>
                  <a:pt x="942572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697833" y="9003189"/>
            <a:ext cx="2383790" cy="76200"/>
          </a:xfrm>
          <a:custGeom>
            <a:avLst/>
            <a:gdLst/>
            <a:ahLst/>
            <a:cxnLst/>
            <a:rect l="l" t="t" r="r" b="b"/>
            <a:pathLst>
              <a:path w="2383790" h="76200">
                <a:moveTo>
                  <a:pt x="2383203" y="76199"/>
                </a:moveTo>
                <a:lnTo>
                  <a:pt x="0" y="76199"/>
                </a:lnTo>
                <a:lnTo>
                  <a:pt x="0" y="0"/>
                </a:lnTo>
                <a:lnTo>
                  <a:pt x="2383203" y="0"/>
                </a:lnTo>
                <a:lnTo>
                  <a:pt x="2383203" y="761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224345" y="6820599"/>
            <a:ext cx="14080490" cy="2311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6450" spc="-655"/>
              <a:t>*Bank</a:t>
            </a:r>
            <a:r>
              <a:rPr dirty="0" sz="6450" spc="-450"/>
              <a:t> </a:t>
            </a:r>
            <a:r>
              <a:rPr dirty="0" sz="6450" spc="-520">
                <a:solidFill>
                  <a:srgbClr val="000000"/>
                </a:solidFill>
              </a:rPr>
              <a:t>va</a:t>
            </a:r>
            <a:r>
              <a:rPr dirty="0" sz="6450" spc="-500">
                <a:solidFill>
                  <a:srgbClr val="000000"/>
                </a:solidFill>
              </a:rPr>
              <a:t> </a:t>
            </a:r>
            <a:r>
              <a:rPr dirty="0" sz="6450" spc="-1165"/>
              <a:t>T</a:t>
            </a:r>
            <a:r>
              <a:rPr dirty="0" sz="6450" spc="-434"/>
              <a:t>ash</a:t>
            </a:r>
            <a:r>
              <a:rPr dirty="0" sz="6450" spc="-620"/>
              <a:t>k</a:t>
            </a:r>
            <a:r>
              <a:rPr dirty="0" sz="6450" spc="-434"/>
              <a:t>e</a:t>
            </a:r>
            <a:r>
              <a:rPr dirty="0" sz="6450" spc="-484"/>
              <a:t>n</a:t>
            </a:r>
            <a:r>
              <a:rPr dirty="0" sz="6450" spc="-425"/>
              <a:t>t</a:t>
            </a:r>
            <a:r>
              <a:rPr dirty="0" sz="6450" spc="-500"/>
              <a:t> </a:t>
            </a:r>
            <a:r>
              <a:rPr dirty="0" sz="6450" spc="-1160"/>
              <a:t>T</a:t>
            </a:r>
            <a:r>
              <a:rPr dirty="0" sz="6450" spc="-415"/>
              <a:t>e</a:t>
            </a:r>
            <a:r>
              <a:rPr dirty="0" sz="6450" spc="-365"/>
              <a:t>xtil</a:t>
            </a:r>
            <a:r>
              <a:rPr dirty="0" sz="6450" spc="-355"/>
              <a:t>e</a:t>
            </a:r>
            <a:r>
              <a:rPr dirty="0" sz="6450" spc="-290"/>
              <a:t> </a:t>
            </a:r>
            <a:r>
              <a:rPr dirty="0" sz="6450" spc="-320"/>
              <a:t>LLC</a:t>
            </a:r>
            <a:r>
              <a:rPr dirty="0" sz="6450" spc="-295"/>
              <a:t> </a:t>
            </a:r>
            <a:r>
              <a:rPr dirty="0" sz="6450" spc="-470">
                <a:solidFill>
                  <a:srgbClr val="000000"/>
                </a:solidFill>
              </a:rPr>
              <a:t>misolida </a:t>
            </a:r>
            <a:r>
              <a:rPr dirty="0" sz="6450" spc="-409">
                <a:solidFill>
                  <a:srgbClr val="000000"/>
                </a:solidFill>
              </a:rPr>
              <a:t>kredit</a:t>
            </a:r>
            <a:r>
              <a:rPr dirty="0" sz="6450" spc="-315">
                <a:solidFill>
                  <a:srgbClr val="000000"/>
                </a:solidFill>
              </a:rPr>
              <a:t> </a:t>
            </a:r>
            <a:r>
              <a:rPr dirty="0" sz="6450" spc="-440">
                <a:solidFill>
                  <a:srgbClr val="000000"/>
                </a:solidFill>
              </a:rPr>
              <a:t>pullarni</a:t>
            </a:r>
            <a:r>
              <a:rPr dirty="0" sz="6450" spc="-480">
                <a:solidFill>
                  <a:srgbClr val="000000"/>
                </a:solidFill>
              </a:rPr>
              <a:t> </a:t>
            </a:r>
            <a:r>
              <a:rPr dirty="0" sz="6450" spc="-440">
                <a:solidFill>
                  <a:srgbClr val="000000"/>
                </a:solidFill>
              </a:rPr>
              <a:t>yaratilishi</a:t>
            </a:r>
            <a:r>
              <a:rPr dirty="0" sz="6450" spc="-470">
                <a:solidFill>
                  <a:srgbClr val="000000"/>
                </a:solidFill>
              </a:rPr>
              <a:t> </a:t>
            </a:r>
            <a:r>
              <a:rPr dirty="0" sz="6450" spc="-520">
                <a:solidFill>
                  <a:srgbClr val="000000"/>
                </a:solidFill>
              </a:rPr>
              <a:t>va</a:t>
            </a:r>
            <a:r>
              <a:rPr dirty="0" sz="6450" spc="-480">
                <a:solidFill>
                  <a:srgbClr val="000000"/>
                </a:solidFill>
              </a:rPr>
              <a:t> </a:t>
            </a:r>
            <a:r>
              <a:rPr dirty="0" sz="6450" spc="-440">
                <a:solidFill>
                  <a:srgbClr val="000000"/>
                </a:solidFill>
              </a:rPr>
              <a:t>yo’qotilishi:</a:t>
            </a:r>
            <a:endParaRPr sz="6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900" y="3163345"/>
            <a:ext cx="15182849" cy="45338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7943" rIns="0" bIns="0" rtlCol="0" vert="horz">
            <a:spAutoFit/>
          </a:bodyPr>
          <a:lstStyle/>
          <a:p>
            <a:pPr marL="276225">
              <a:lnSpc>
                <a:spcPct val="100000"/>
              </a:lnSpc>
              <a:spcBef>
                <a:spcPts val="95"/>
              </a:spcBef>
            </a:pPr>
            <a:r>
              <a:rPr dirty="0" sz="6450" spc="-470"/>
              <a:t>Bank</a:t>
            </a:r>
            <a:r>
              <a:rPr dirty="0" sz="6450" spc="-320"/>
              <a:t> </a:t>
            </a:r>
            <a:r>
              <a:rPr dirty="0" sz="6450" spc="-484"/>
              <a:t>balansi</a:t>
            </a:r>
            <a:r>
              <a:rPr dirty="0" sz="6450" spc="-315"/>
              <a:t> </a:t>
            </a:r>
            <a:r>
              <a:rPr dirty="0" sz="6450" spc="-500"/>
              <a:t>qarzdan</a:t>
            </a:r>
            <a:r>
              <a:rPr dirty="0" sz="6450" spc="-310"/>
              <a:t> </a:t>
            </a:r>
            <a:r>
              <a:rPr dirty="0" sz="6450" spc="-440"/>
              <a:t>oldin:</a:t>
            </a:r>
            <a:endParaRPr sz="64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8633" y="2717525"/>
            <a:ext cx="14106524" cy="56102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932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450" spc="-425"/>
              <a:t>Ariza:</a:t>
            </a:r>
            <a:endParaRPr sz="64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9917" y="3406865"/>
            <a:ext cx="16011524" cy="43624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5932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450" spc="-375"/>
              <a:t>Pul</a:t>
            </a:r>
            <a:r>
              <a:rPr dirty="0" sz="6450" spc="-484"/>
              <a:t> </a:t>
            </a:r>
            <a:r>
              <a:rPr dirty="0" sz="6450" spc="-470"/>
              <a:t>yaratilishi:</a:t>
            </a:r>
            <a:endParaRPr sz="64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225" y="2463817"/>
            <a:ext cx="15592424" cy="53625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292" y="2165584"/>
            <a:ext cx="16468722" cy="682942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829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450" spc="-415"/>
              <a:t>5</a:t>
            </a:r>
            <a:r>
              <a:rPr dirty="0" sz="6450" spc="-490"/>
              <a:t> </a:t>
            </a:r>
            <a:r>
              <a:rPr dirty="0" sz="6450" spc="-430"/>
              <a:t>yildan</a:t>
            </a:r>
            <a:r>
              <a:rPr dirty="0" sz="6450" spc="-310"/>
              <a:t> </a:t>
            </a:r>
            <a:r>
              <a:rPr dirty="0" sz="6450" spc="-515"/>
              <a:t>keyin:</a:t>
            </a:r>
            <a:endParaRPr sz="64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56338" y="2672034"/>
            <a:ext cx="13375640" cy="38544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16300"/>
              </a:lnSpc>
              <a:spcBef>
                <a:spcPts val="100"/>
              </a:spcBef>
            </a:pPr>
            <a:r>
              <a:rPr dirty="0" spc="-380"/>
              <a:t>Kredit</a:t>
            </a:r>
            <a:r>
              <a:rPr dirty="0" spc="-355"/>
              <a:t> </a:t>
            </a:r>
            <a:r>
              <a:rPr dirty="0" spc="-434">
                <a:solidFill>
                  <a:srgbClr val="000000"/>
                </a:solidFill>
              </a:rPr>
              <a:t>-</a:t>
            </a:r>
            <a:r>
              <a:rPr dirty="0" spc="-350">
                <a:solidFill>
                  <a:srgbClr val="000000"/>
                </a:solidFill>
              </a:rPr>
              <a:t> </a:t>
            </a:r>
            <a:r>
              <a:rPr dirty="0" spc="-530">
                <a:solidFill>
                  <a:srgbClr val="000000"/>
                </a:solidFill>
              </a:rPr>
              <a:t>bu</a:t>
            </a:r>
            <a:r>
              <a:rPr dirty="0" spc="-355">
                <a:solidFill>
                  <a:srgbClr val="000000"/>
                </a:solidFill>
              </a:rPr>
              <a:t> </a:t>
            </a:r>
            <a:r>
              <a:rPr dirty="0" spc="-470">
                <a:solidFill>
                  <a:srgbClr val="000000"/>
                </a:solidFill>
              </a:rPr>
              <a:t>joriy</a:t>
            </a:r>
            <a:r>
              <a:rPr dirty="0" spc="-530">
                <a:solidFill>
                  <a:srgbClr val="000000"/>
                </a:solidFill>
              </a:rPr>
              <a:t> </a:t>
            </a:r>
            <a:r>
              <a:rPr dirty="0" spc="-515">
                <a:solidFill>
                  <a:srgbClr val="000000"/>
                </a:solidFill>
              </a:rPr>
              <a:t>xarid</a:t>
            </a:r>
            <a:r>
              <a:rPr dirty="0" spc="-355">
                <a:solidFill>
                  <a:srgbClr val="000000"/>
                </a:solidFill>
              </a:rPr>
              <a:t> </a:t>
            </a:r>
            <a:r>
              <a:rPr dirty="0" spc="-445">
                <a:solidFill>
                  <a:srgbClr val="000000"/>
                </a:solidFill>
              </a:rPr>
              <a:t>qobiliyatini </a:t>
            </a:r>
            <a:r>
              <a:rPr dirty="0" spc="-610">
                <a:solidFill>
                  <a:srgbClr val="000000"/>
                </a:solidFill>
              </a:rPr>
              <a:t>kelajakdagi</a:t>
            </a:r>
            <a:r>
              <a:rPr dirty="0" spc="-335">
                <a:solidFill>
                  <a:srgbClr val="000000"/>
                </a:solidFill>
              </a:rPr>
              <a:t> </a:t>
            </a:r>
            <a:r>
              <a:rPr dirty="0" spc="-509">
                <a:solidFill>
                  <a:srgbClr val="000000"/>
                </a:solidFill>
              </a:rPr>
              <a:t>qaytarish</a:t>
            </a:r>
            <a:r>
              <a:rPr dirty="0" spc="-515">
                <a:solidFill>
                  <a:srgbClr val="000000"/>
                </a:solidFill>
              </a:rPr>
              <a:t> </a:t>
            </a:r>
            <a:r>
              <a:rPr dirty="0" spc="-580">
                <a:solidFill>
                  <a:srgbClr val="000000"/>
                </a:solidFill>
              </a:rPr>
              <a:t>va'dasi </a:t>
            </a:r>
            <a:r>
              <a:rPr dirty="0" spc="-575">
                <a:solidFill>
                  <a:srgbClr val="000000"/>
                </a:solidFill>
              </a:rPr>
              <a:t>evaziga</a:t>
            </a:r>
            <a:r>
              <a:rPr dirty="0" spc="-360">
                <a:solidFill>
                  <a:srgbClr val="000000"/>
                </a:solidFill>
              </a:rPr>
              <a:t> </a:t>
            </a:r>
            <a:r>
              <a:rPr dirty="0" spc="-509">
                <a:solidFill>
                  <a:srgbClr val="000000"/>
                </a:solidFill>
              </a:rPr>
              <a:t>o'tkazish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0139" y="2497580"/>
            <a:ext cx="13487399" cy="67627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63244" rIns="0" bIns="0" rtlCol="0" vert="horz">
            <a:spAutoFit/>
          </a:bodyPr>
          <a:lstStyle/>
          <a:p>
            <a:pPr marL="5466715">
              <a:lnSpc>
                <a:spcPct val="100000"/>
              </a:lnSpc>
              <a:spcBef>
                <a:spcPts val="100"/>
              </a:spcBef>
            </a:pPr>
            <a:r>
              <a:rPr dirty="0" spc="-415"/>
              <a:t>4</a:t>
            </a:r>
            <a:r>
              <a:rPr dirty="0" spc="-360"/>
              <a:t> </a:t>
            </a:r>
            <a:r>
              <a:rPr dirty="0" spc="-509"/>
              <a:t>ta</a:t>
            </a:r>
            <a:r>
              <a:rPr dirty="0" spc="-360"/>
              <a:t> </a:t>
            </a:r>
            <a:r>
              <a:rPr dirty="0" spc="-565"/>
              <a:t>element: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16898" y="4537140"/>
            <a:ext cx="885444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0" spc="-505"/>
              <a:t>Kreditning</a:t>
            </a:r>
            <a:r>
              <a:rPr dirty="0" sz="8000" spc="-405"/>
              <a:t> </a:t>
            </a:r>
            <a:r>
              <a:rPr dirty="0" sz="8000" spc="-509"/>
              <a:t>5</a:t>
            </a:r>
            <a:r>
              <a:rPr dirty="0" sz="8000" spc="-400"/>
              <a:t> </a:t>
            </a:r>
            <a:r>
              <a:rPr dirty="0" sz="8000" spc="-570"/>
              <a:t>ta</a:t>
            </a:r>
            <a:r>
              <a:rPr dirty="0" sz="8000" spc="-400"/>
              <a:t> </a:t>
            </a:r>
            <a:r>
              <a:rPr dirty="0" sz="8000" spc="-570"/>
              <a:t>turi:</a:t>
            </a:r>
            <a:endParaRPr sz="8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172" y="3713413"/>
            <a:ext cx="16116299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7692" y="3766755"/>
            <a:ext cx="15516224" cy="27527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4116" y="3908168"/>
            <a:ext cx="15935324" cy="24669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206" y="3791586"/>
            <a:ext cx="15563849" cy="27050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6912" y="3757481"/>
            <a:ext cx="15954372" cy="27717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7355" y="3350271"/>
            <a:ext cx="15592424" cy="35909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7676" y="4559300"/>
            <a:ext cx="1191069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0"/>
              <a:t>Kredit</a:t>
            </a:r>
            <a:r>
              <a:rPr dirty="0" spc="-345"/>
              <a:t> </a:t>
            </a:r>
            <a:r>
              <a:rPr dirty="0" spc="-500"/>
              <a:t>siyosatining</a:t>
            </a:r>
            <a:r>
              <a:rPr dirty="0" spc="-345"/>
              <a:t> </a:t>
            </a:r>
            <a:r>
              <a:rPr dirty="0" spc="-415"/>
              <a:t>2</a:t>
            </a:r>
            <a:r>
              <a:rPr dirty="0" spc="-340"/>
              <a:t> </a:t>
            </a:r>
            <a:r>
              <a:rPr dirty="0" spc="-625"/>
              <a:t>darajasi: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497" y="1142199"/>
            <a:ext cx="13173074" cy="80009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21727" y="4559300"/>
            <a:ext cx="16044544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5"/>
              <a:t>CB</a:t>
            </a:r>
            <a:r>
              <a:rPr dirty="0" spc="-380"/>
              <a:t> </a:t>
            </a:r>
            <a:r>
              <a:rPr dirty="0" spc="-560"/>
              <a:t>ning</a:t>
            </a:r>
            <a:r>
              <a:rPr dirty="0" spc="-360"/>
              <a:t> </a:t>
            </a:r>
            <a:r>
              <a:rPr dirty="0" spc="-465"/>
              <a:t>10ta</a:t>
            </a:r>
            <a:r>
              <a:rPr dirty="0" spc="-360"/>
              <a:t> </a:t>
            </a:r>
            <a:r>
              <a:rPr dirty="0" spc="-480"/>
              <a:t>asosiy</a:t>
            </a:r>
            <a:r>
              <a:rPr dirty="0" spc="-540"/>
              <a:t> </a:t>
            </a:r>
            <a:r>
              <a:rPr dirty="0" spc="-495"/>
              <a:t>regulyatorlik</a:t>
            </a:r>
            <a:r>
              <a:rPr dirty="0" spc="-360"/>
              <a:t> </a:t>
            </a:r>
            <a:r>
              <a:rPr dirty="0" spc="-545"/>
              <a:t>talabi: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7373" y="3728341"/>
            <a:ext cx="16173449" cy="28289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5558" y="2390247"/>
            <a:ext cx="15678149" cy="550544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2861" y="2322562"/>
            <a:ext cx="16059149" cy="56387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13795" y="4559300"/>
            <a:ext cx="15660369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80"/>
              <a:t>Kredit</a:t>
            </a:r>
            <a:r>
              <a:rPr dirty="0" spc="-350"/>
              <a:t> </a:t>
            </a:r>
            <a:r>
              <a:rPr dirty="0" spc="-500"/>
              <a:t>siyosatining</a:t>
            </a:r>
            <a:r>
              <a:rPr dirty="0" spc="-350"/>
              <a:t> </a:t>
            </a:r>
            <a:r>
              <a:rPr dirty="0" spc="-415"/>
              <a:t>5</a:t>
            </a:r>
            <a:r>
              <a:rPr dirty="0" spc="-350"/>
              <a:t> </a:t>
            </a:r>
            <a:r>
              <a:rPr dirty="0" spc="-509"/>
              <a:t>ta</a:t>
            </a:r>
            <a:r>
              <a:rPr dirty="0" spc="-345"/>
              <a:t> </a:t>
            </a:r>
            <a:r>
              <a:rPr dirty="0" spc="-480"/>
              <a:t>asosiy</a:t>
            </a:r>
            <a:r>
              <a:rPr dirty="0" spc="-530"/>
              <a:t> </a:t>
            </a:r>
            <a:r>
              <a:rPr dirty="0" spc="-540"/>
              <a:t>xusiyati: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982" y="2347666"/>
            <a:ext cx="16325849" cy="55911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114" y="1095943"/>
            <a:ext cx="15916274" cy="80962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Alimardon Umidov</dc:creator>
  <cp:keywords>DAHGbMlwwmY,BAG7DtV-6Mw,0</cp:keywords>
  <dc:title>Hello world</dc:title>
  <dcterms:created xsi:type="dcterms:W3CDTF">2026-04-13T04:18:04Z</dcterms:created>
  <dcterms:modified xsi:type="dcterms:W3CDTF">2026-04-13T04:18:04Z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2026-04-13T00:00:00Z</vt:filetime>
  </property>
  <property fmtid="{D5CDD505-2E9C-101B-9397-08002B2CF9AE}" pid="4" name="Creator">
    <vt:lpwstr>Canva</vt:lpwstr>
  </property>
  <property fmtid="{D5CDD505-2E9C-101B-9397-08002B2CF9AE}" pid="5" name="LastSaved">
    <vt:filetime>2026-04-13T00:00:00Z</vt:filetime>
  </property>
  <property fmtid="{D5CDD505-2E9C-101B-9397-08002B2CF9AE}" pid="6" name="Producer">
    <vt:lpwstr>Canva</vt:lpwstr>
  </property>
</Properties>
</file>